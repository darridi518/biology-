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 showGuides="1">
      <p:cViewPr varScale="1">
        <p:scale>
          <a:sx n="161" d="100"/>
          <a:sy n="161" d="100"/>
        </p:scale>
        <p:origin x="2550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F9A2A0-A311-46E1-9123-E4026B9C8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750406F-40C2-4DA8-85BA-91DD276EA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7FAE3-46A3-4FDA-B187-548F2D13C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9797A-2414-49EE-9B76-BB36F860919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5C8BCC-7DDD-4307-AE58-22B0E0285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13F5EB-1EBC-49B8-94AE-27B1E77E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4E53-4B2C-437B-ACD4-5F239C4EB6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575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625761-574B-4A56-A4CA-38B57A014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BDF5A1-30DD-4230-8875-AF91A7E8A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D81D74-5175-43F1-B950-970120CE9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9797A-2414-49EE-9B76-BB36F860919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4700DA-D49D-4493-81B9-4E1764B87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181A84-DF2F-44CD-B978-23A39B11F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4E53-4B2C-437B-ACD4-5F239C4EB6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121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3ECA67-8FF5-491D-8DCF-25CA607CA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A43B99-68A8-4B73-9858-5CA2611C1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145B1F-ED0E-43A2-A715-05A96359F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9797A-2414-49EE-9B76-BB36F860919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F289F7-40DB-46C1-A73B-34BEBE2E6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DF7704-561E-4E5F-BFC6-4F8B7CFE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4E53-4B2C-437B-ACD4-5F239C4EB6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380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74E067-0225-4FFE-A261-B8CB32517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532CF6-A517-4613-BB78-BD10A7038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BA9B93-6247-4B12-A161-3FE83B699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3AC1B1-7CAE-4D22-B403-39EB542A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9797A-2414-49EE-9B76-BB36F860919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53E5CF-FF3B-4B66-A535-87733805D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77939B-8DA3-4F7A-B11F-3DEB8F6CB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4E53-4B2C-437B-ACD4-5F239C4EB6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258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9B818-CB11-4F9F-BDF4-F9044EFF4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E35B35-FF5D-44D9-95B8-C07C572B3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87F596-D1B3-4CB9-8F8B-4FC2E4D13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C8080D1-0C21-4765-9743-FDB2F692D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D89E222-84CE-4A63-B177-979B1C203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F625BF5-1CD6-44E7-8670-B3B08EE40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9797A-2414-49EE-9B76-BB36F860919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3850E2E-092F-4648-9D30-1205731E6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A6914E-1B2B-40D0-8015-CF3656DA2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4E53-4B2C-437B-ACD4-5F239C4EB6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76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916BA9-DC4B-496A-AD30-9B538994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D678D8C-9B38-43AA-B94E-E95918EEE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9797A-2414-49EE-9B76-BB36F860919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32606BE-4384-42A0-8F8A-09A0C3202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9F84F0-53B9-4EC9-B3B5-4E835832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4E53-4B2C-437B-ACD4-5F239C4EB6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7956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5E8498-46B9-4233-BB28-F43251553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9797A-2414-49EE-9B76-BB36F860919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C9D6623-6A1F-4315-ADAF-0954F388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4E8DD2-25F4-4375-B5B9-6ADC9B4E2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4E53-4B2C-437B-ACD4-5F239C4EB6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677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1355E-0B87-4D7D-A966-73D72ADAF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E4114F-8050-4C5D-8DF1-CE8689724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ADD11A-59D3-4ACC-9A4D-472BBBD03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A6E421-9FAE-4322-893E-E57AAEE06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9797A-2414-49EE-9B76-BB36F860919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FB30B4-83E0-42A7-8837-752CA25BF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9CBE7C-4AC0-4565-80CD-EBF94AC1C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4E53-4B2C-437B-ACD4-5F239C4EB6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56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34B94D-7450-439B-A028-B36C13779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F0039C7-B0FD-4B73-BCC9-DD3E6D5C0D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C2CDB49-B31B-47A2-B5AE-BB9C2EE37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479282-736D-4A14-BBD4-217AC7CF2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9797A-2414-49EE-9B76-BB36F860919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749ADD-8C93-4A87-94B0-ADF1E6F25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92296E-4EEB-485F-A8C5-80A4EC4F6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4E53-4B2C-437B-ACD4-5F239C4EB6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64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0DF620-8160-43F6-AE44-B081FF45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0C5F42-8949-459D-ACBA-A7CB49D7D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A5615F-C4F9-4B6F-9C59-38A44E651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9797A-2414-49EE-9B76-BB36F860919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C37232-2202-41E3-8620-5BE110BE2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F662CD-1370-4FB3-9B67-C67A136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4E53-4B2C-437B-ACD4-5F239C4EB6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420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EE4CC4-D39C-499C-92CA-D5E5EA67D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00834D7-068F-4FA5-8B34-35A111CEE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A0435F-FE12-45F6-BAF8-28B60EA15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9797A-2414-49EE-9B76-BB36F860919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2A0339-6072-423F-9A6F-2BEEEBFF6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208425-76E7-48C7-B48C-01B331D5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4E53-4B2C-437B-ACD4-5F239C4EB6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81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4F1441-FE91-488D-8646-8EEEF3281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205425-B4E1-4A0F-9B11-97E0C43F4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9EDBDA-4FD1-449E-A8D7-46FAEE0FFD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9797A-2414-49EE-9B76-BB36F860919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1D082F-2936-46A5-890F-B9225E4B2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8B76EC-0272-4B0F-A6B5-AAA43D140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F4E53-4B2C-437B-ACD4-5F239C4EB6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00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77B2D2E-7D2D-4A4C-A072-CC5F06A12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64CA9D-7DD4-4F7B-A611-CA7CB78E56E0}"/>
              </a:ext>
            </a:extLst>
          </p:cNvPr>
          <p:cNvSpPr txBox="1"/>
          <p:nvPr/>
        </p:nvSpPr>
        <p:spPr>
          <a:xfrm>
            <a:off x="665018" y="409699"/>
            <a:ext cx="83215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0" i="0" dirty="0">
                <a:solidFill>
                  <a:srgbClr val="222222"/>
                </a:solidFill>
                <a:effectLst/>
                <a:latin typeface="Arial Black" panose="020B0A04020102020204" pitchFamily="34" charset="0"/>
              </a:rPr>
              <a:t>Координация и регуляция жизнедеятельности</a:t>
            </a:r>
          </a:p>
          <a:p>
            <a:r>
              <a:rPr lang="ru-RU" sz="2400" b="0" i="0" dirty="0">
                <a:solidFill>
                  <a:srgbClr val="222222"/>
                </a:solidFill>
                <a:effectLst/>
                <a:latin typeface="Arial Black" panose="020B0A04020102020204" pitchFamily="34" charset="0"/>
              </a:rPr>
              <a:t>у животных 🐾🧠</a:t>
            </a:r>
            <a:endParaRPr lang="ru-RU" sz="2400" dirty="0"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289F64-348C-4E95-BE83-AF3D2D229C5D}"/>
              </a:ext>
            </a:extLst>
          </p:cNvPr>
          <p:cNvSpPr txBox="1"/>
          <p:nvPr/>
        </p:nvSpPr>
        <p:spPr>
          <a:xfrm>
            <a:off x="665018" y="4286992"/>
            <a:ext cx="412484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РАБОТУ ВЫПОЛНИЛИ:</a:t>
            </a:r>
            <a:b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Езерский Мирон</a:t>
            </a:r>
            <a:b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Герасименко Дмитрий</a:t>
            </a:r>
            <a:b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Сбродов Илья</a:t>
            </a:r>
            <a:b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Печерин Егор</a:t>
            </a:r>
          </a:p>
        </p:txBody>
      </p:sp>
    </p:spTree>
    <p:extLst>
      <p:ext uri="{BB962C8B-B14F-4D97-AF65-F5344CB8AC3E}">
        <p14:creationId xmlns:p14="http://schemas.microsoft.com/office/powerpoint/2010/main" val="431432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B3E8E0E-34A7-459B-9BD4-1012966A1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236717-D6D7-4380-ABC0-3C2012DF0C92}"/>
              </a:ext>
            </a:extLst>
          </p:cNvPr>
          <p:cNvSpPr txBox="1"/>
          <p:nvPr/>
        </p:nvSpPr>
        <p:spPr>
          <a:xfrm>
            <a:off x="665018" y="409699"/>
            <a:ext cx="7866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i="0" dirty="0">
                <a:solidFill>
                  <a:srgbClr val="222222"/>
                </a:solidFill>
                <a:effectLst/>
                <a:latin typeface="Arial Black" panose="020B0A04020102020204" pitchFamily="34" charset="0"/>
              </a:rPr>
              <a:t>Что такое нейрогуморальная регуляция? 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DEE13-C201-4002-BA7E-B7C14AEF12CF}"/>
              </a:ext>
            </a:extLst>
          </p:cNvPr>
          <p:cNvSpPr txBox="1"/>
          <p:nvPr/>
        </p:nvSpPr>
        <p:spPr>
          <a:xfrm>
            <a:off x="665018" y="1666504"/>
            <a:ext cx="85026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ru-RU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Нейрогуморальная регуляция</a:t>
            </a:r>
            <a:r>
              <a:rPr lang="ru-RU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⚡ = Нервная 🧠 + Гуморальная 💧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D67361-D31F-4E6A-9BED-5E945BA3178D}"/>
              </a:ext>
            </a:extLst>
          </p:cNvPr>
          <p:cNvSpPr txBox="1"/>
          <p:nvPr/>
        </p:nvSpPr>
        <p:spPr>
          <a:xfrm>
            <a:off x="665018" y="2398816"/>
            <a:ext cx="5424883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Главная роль:</a:t>
            </a:r>
            <a:r>
              <a:rPr lang="ru-RU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согласование работы</a:t>
            </a:r>
          </a:p>
          <a:p>
            <a:r>
              <a:rPr lang="ru-RU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всех органов и поддержание гомеостаза </a:t>
            </a:r>
            <a:r>
              <a:rPr lang="ru-RU" b="0" i="0" dirty="0">
                <a:solidFill>
                  <a:srgbClr val="222222"/>
                </a:solidFill>
                <a:effectLst/>
                <a:latin typeface="system-ui"/>
              </a:rPr>
              <a:t>⚖️</a:t>
            </a:r>
          </a:p>
          <a:p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26CE563-8B60-4B25-800A-54542C322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582" y="2322094"/>
            <a:ext cx="4179692" cy="435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26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DEF5AAB-A3B6-4D05-946B-0668279D6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E83D00-1A69-40A4-808E-772E93D4C258}"/>
              </a:ext>
            </a:extLst>
          </p:cNvPr>
          <p:cNvSpPr txBox="1"/>
          <p:nvPr/>
        </p:nvSpPr>
        <p:spPr>
          <a:xfrm>
            <a:off x="665018" y="409699"/>
            <a:ext cx="6434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ru-RU" sz="2400" b="1" dirty="0">
                <a:solidFill>
                  <a:srgbClr val="222222"/>
                </a:solidFill>
                <a:latin typeface="Arial Black" panose="020B0A04020102020204" pitchFamily="34" charset="0"/>
              </a:rPr>
              <a:t>Компоненты системы регуляции 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D3982D-00A9-4498-8AD2-4AD23D0F3C65}"/>
              </a:ext>
            </a:extLst>
          </p:cNvPr>
          <p:cNvSpPr txBox="1"/>
          <p:nvPr/>
        </p:nvSpPr>
        <p:spPr>
          <a:xfrm>
            <a:off x="665018" y="1209174"/>
            <a:ext cx="773320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Основное содержание</a:t>
            </a: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📋</a:t>
            </a:r>
          </a:p>
          <a:p>
            <a:r>
              <a:rPr lang="ru-RU" sz="20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Гуморальная</a:t>
            </a: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эндокринные железы 🏥 → гормоны 💉</a:t>
            </a:r>
          </a:p>
          <a:p>
            <a:r>
              <a:rPr lang="ru-RU" sz="20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Нервная</a:t>
            </a: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нейроны 🧬, головной и спинной мозг 🧠, нервы 🔌</a:t>
            </a:r>
          </a:p>
          <a:p>
            <a:r>
              <a:rPr lang="ru-RU" sz="20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Связь</a:t>
            </a: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через кровь 🩸 и гипоталамус 🔗</a:t>
            </a:r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C3863A0-C432-4F4F-AD38-8F99A5E93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03" y="2697330"/>
            <a:ext cx="5107409" cy="416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046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01B0E2-C20D-47E3-9DF5-93BFD3CF8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E4B287-D226-4714-8D5B-92A64CA97AF1}"/>
              </a:ext>
            </a:extLst>
          </p:cNvPr>
          <p:cNvSpPr txBox="1"/>
          <p:nvPr/>
        </p:nvSpPr>
        <p:spPr>
          <a:xfrm>
            <a:off x="665018" y="409699"/>
            <a:ext cx="3945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ru-RU" sz="2400" dirty="0">
                <a:solidFill>
                  <a:srgbClr val="222222"/>
                </a:solidFill>
                <a:latin typeface="Arial Black" panose="020B0A04020102020204" pitchFamily="34" charset="0"/>
              </a:rPr>
              <a:t>Строение нейрона 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8D5C85-4CEA-4461-B24D-DBC2A9C3663B}"/>
              </a:ext>
            </a:extLst>
          </p:cNvPr>
          <p:cNvSpPr txBox="1"/>
          <p:nvPr/>
        </p:nvSpPr>
        <p:spPr>
          <a:xfrm>
            <a:off x="665018" y="1178938"/>
            <a:ext cx="7235122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ru-RU" sz="20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Основное содержание:</a:t>
            </a: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📝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Дендриты, тело клетки, аксон 🌳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Миелиновая оболочка (ускоряет передачу импульсов!) ⚡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Синапсы 🤝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62105D-6900-4201-BFA4-0D7348094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326" y="0"/>
            <a:ext cx="4344434" cy="6858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5ED741E-9BAD-406A-A223-0A5C73D28B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35625"/>
            <a:ext cx="4572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10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232117-70BD-49AF-846B-D37897A26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96E78B-20EC-4CB2-8C94-7F3830A288B5}"/>
              </a:ext>
            </a:extLst>
          </p:cNvPr>
          <p:cNvSpPr txBox="1"/>
          <p:nvPr/>
        </p:nvSpPr>
        <p:spPr>
          <a:xfrm>
            <a:off x="890649" y="463138"/>
            <a:ext cx="83086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222222"/>
                </a:solidFill>
                <a:latin typeface="Arial Black" panose="020B0A04020102020204" pitchFamily="34" charset="0"/>
              </a:rPr>
              <a:t>Как работает нервная регуляция (рефлекс) ⚙️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B5D16-7B96-4F30-B4D4-532DD8F99026}"/>
              </a:ext>
            </a:extLst>
          </p:cNvPr>
          <p:cNvSpPr txBox="1"/>
          <p:nvPr/>
        </p:nvSpPr>
        <p:spPr>
          <a:xfrm>
            <a:off x="890649" y="1062841"/>
            <a:ext cx="8242962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ru-RU" sz="20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Основное содержание: 📋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Раздражение → нервный импульс → мозг → ответная реакция 🔄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Рефлекторная дуга 🔁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D4CA020-3366-4D20-8FBE-1FEE65328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67175"/>
            <a:ext cx="3514725" cy="257175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D22831D-09F6-487A-BD73-095E52A1E2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168" y="2657051"/>
            <a:ext cx="5206587" cy="389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033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788051-7061-4D6F-A693-3B6F08E71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ADDFCC-C835-44AD-A75B-857068E39219}"/>
              </a:ext>
            </a:extLst>
          </p:cNvPr>
          <p:cNvSpPr txBox="1"/>
          <p:nvPr/>
        </p:nvSpPr>
        <p:spPr>
          <a:xfrm>
            <a:off x="872836" y="344384"/>
            <a:ext cx="67730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222222"/>
                </a:solidFill>
                <a:latin typeface="Arial Black" panose="020B0A04020102020204" pitchFamily="34" charset="0"/>
              </a:rPr>
              <a:t>Гуморальная регуляция (гормоны) 🩸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C40E76-CCBE-4D6E-887A-1E843DB333C2}"/>
              </a:ext>
            </a:extLst>
          </p:cNvPr>
          <p:cNvSpPr txBox="1"/>
          <p:nvPr/>
        </p:nvSpPr>
        <p:spPr>
          <a:xfrm>
            <a:off x="872836" y="1514104"/>
            <a:ext cx="5363520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ru-RU" sz="20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Основное содержание: 📝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Железы выделяют гормоны в кровь 💉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Гормоны действуют на органы-мишени 🎯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Пример: адреналин 🔥</a:t>
            </a:r>
          </a:p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32DA1FB-F79D-49DC-8683-E0E2FA169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36" y="3013602"/>
            <a:ext cx="4844885" cy="377901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9E2A6F0-C795-4FDF-9630-CFF5F0B90B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923" y="2700862"/>
            <a:ext cx="5550077" cy="415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30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321ED6F-411D-48A4-AD20-A0CD0B790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140A9A-F306-4702-9A2C-4E10579FA322}"/>
              </a:ext>
            </a:extLst>
          </p:cNvPr>
          <p:cNvSpPr txBox="1"/>
          <p:nvPr/>
        </p:nvSpPr>
        <p:spPr>
          <a:xfrm>
            <a:off x="611579" y="225632"/>
            <a:ext cx="899477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222222"/>
                </a:solidFill>
                <a:latin typeface="Arial Black" panose="020B0A04020102020204" pitchFamily="34" charset="0"/>
              </a:rPr>
              <a:t>Эволюция нервной системы (беспозвоночные) 🐛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D3733-18EC-4A07-8B37-797CBDFD5412}"/>
              </a:ext>
            </a:extLst>
          </p:cNvPr>
          <p:cNvSpPr txBox="1"/>
          <p:nvPr/>
        </p:nvSpPr>
        <p:spPr>
          <a:xfrm>
            <a:off x="611579" y="1318161"/>
            <a:ext cx="615104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ru-RU" sz="20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Основное содержание: 📋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Диффузная (гидра) - нервная сеть 🕸️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Лестничная (</a:t>
            </a:r>
            <a:r>
              <a:rPr lang="ru-RU" sz="2000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планария</a:t>
            </a: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- нервные стволы 🪜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Узловая (моллюски, членистоногие) - ганглии 🐚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0B38A87-3FD2-43F4-8C38-9BD6906D1A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06" y="2797320"/>
            <a:ext cx="5104410" cy="377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68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5067DBB-08FE-4BEC-B91A-DF246B34C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38E21F-9E70-43C6-A0EF-3B8974973D50}"/>
              </a:ext>
            </a:extLst>
          </p:cNvPr>
          <p:cNvSpPr txBox="1"/>
          <p:nvPr/>
        </p:nvSpPr>
        <p:spPr>
          <a:xfrm>
            <a:off x="463138" y="362197"/>
            <a:ext cx="837921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222222"/>
                </a:solidFill>
                <a:latin typeface="Arial Black" panose="020B0A04020102020204" pitchFamily="34" charset="0"/>
              </a:rPr>
              <a:t>Эволюция нервной системы (позвоночные) 🐕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DC9612-6512-4BD4-B659-92853745FD9B}"/>
              </a:ext>
            </a:extLst>
          </p:cNvPr>
          <p:cNvSpPr txBox="1"/>
          <p:nvPr/>
        </p:nvSpPr>
        <p:spPr>
          <a:xfrm>
            <a:off x="463138" y="1157844"/>
            <a:ext cx="802174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ru-RU" sz="20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Основное содержание: 📝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Централизованная система 🏛️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Головной и спинной мозг 🧠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Усложнение: от простых структур к коре больших полушарий 📈</a:t>
            </a:r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BA444EB-E18A-4FF4-8F19-C427CAF7E4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6094" y="2453739"/>
            <a:ext cx="5872348" cy="440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94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259CB92-6E02-4309-932D-E1602AD93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A16659-1B2B-47D9-B32C-0815949BBD36}"/>
              </a:ext>
            </a:extLst>
          </p:cNvPr>
          <p:cNvSpPr txBox="1"/>
          <p:nvPr/>
        </p:nvSpPr>
        <p:spPr>
          <a:xfrm>
            <a:off x="564078" y="261257"/>
            <a:ext cx="692689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222222"/>
                </a:solidFill>
                <a:latin typeface="Arial Black" panose="020B0A04020102020204" pitchFamily="34" charset="0"/>
              </a:rPr>
              <a:t>Взаимосвязь с другими системами 🔗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76A726-8CA8-4744-9857-19F2C8EEA413}"/>
              </a:ext>
            </a:extLst>
          </p:cNvPr>
          <p:cNvSpPr txBox="1"/>
          <p:nvPr/>
        </p:nvSpPr>
        <p:spPr>
          <a:xfrm>
            <a:off x="564078" y="999921"/>
            <a:ext cx="4727576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ru-RU" sz="20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Основное содержание: 📋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Кровеносная (перенос гормонов) ❤️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Органы чувств (информация) 👁️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Опорно-двигательная (движение) 🏃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Иммунная система 🛡️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7AF618-6E60-43A4-B974-D7EE18613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766" y="2220686"/>
            <a:ext cx="7026234" cy="463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4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3B85D8-181D-427E-9EA4-52A3601B4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5FFB9C-1354-497A-8B83-A0B72E53D127}"/>
              </a:ext>
            </a:extLst>
          </p:cNvPr>
          <p:cNvSpPr txBox="1"/>
          <p:nvPr/>
        </p:nvSpPr>
        <p:spPr>
          <a:xfrm>
            <a:off x="611578" y="433449"/>
            <a:ext cx="422743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222222"/>
                </a:solidFill>
                <a:latin typeface="Arial Black" panose="020B0A04020102020204" pitchFamily="34" charset="0"/>
              </a:rPr>
              <a:t>Интересные факты! 💡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696716-F6AB-4C8E-899A-93A7B494A4CE}"/>
              </a:ext>
            </a:extLst>
          </p:cNvPr>
          <p:cNvSpPr txBox="1"/>
          <p:nvPr/>
        </p:nvSpPr>
        <p:spPr>
          <a:xfrm>
            <a:off x="611578" y="1246908"/>
            <a:ext cx="7528023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ru-RU" sz="20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Основное содержание: 📝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Миелиновая оболочка ускоряет передачу импульсов! 🏎️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💪 Адреналин: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Усиливает сердцебиение ❤️‍🔥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Сужает сосуды 🩸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Повышает глюкозу 🍬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Реакция "бей или беги" 🏃‍♂️💨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E6C491F-730F-46AA-A02A-F58A0E352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838" y="2010559"/>
            <a:ext cx="7271162" cy="484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07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FF5631-A2CD-4947-9C61-91FFC57BC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1FF260-BD00-460F-9F72-BAB996B3FA3B}"/>
              </a:ext>
            </a:extLst>
          </p:cNvPr>
          <p:cNvSpPr txBox="1"/>
          <p:nvPr/>
        </p:nvSpPr>
        <p:spPr>
          <a:xfrm>
            <a:off x="653144" y="427511"/>
            <a:ext cx="31806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222222"/>
                </a:solidFill>
                <a:latin typeface="Arial Black" panose="020B0A04020102020204" pitchFamily="34" charset="0"/>
              </a:rPr>
              <a:t>Проверь себя! ❓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000D3-0B5F-4353-97AC-572CA856A14D}"/>
              </a:ext>
            </a:extLst>
          </p:cNvPr>
          <p:cNvSpPr txBox="1"/>
          <p:nvPr/>
        </p:nvSpPr>
        <p:spPr>
          <a:xfrm>
            <a:off x="653144" y="1166175"/>
            <a:ext cx="91246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Вопрос классу: </a:t>
            </a:r>
            <a:r>
              <a:rPr lang="ru-RU" sz="2000" b="0" i="0" dirty="0">
                <a:solidFill>
                  <a:srgbClr val="222222"/>
                </a:solidFill>
                <a:effectLst/>
                <a:latin typeface="system-ui"/>
              </a:rPr>
              <a:t>🙋‍♂️🙋‍♀️ </a:t>
            </a:r>
            <a:r>
              <a:rPr lang="ru-RU" sz="2400" b="0" i="1" dirty="0">
                <a:solidFill>
                  <a:srgbClr val="222222"/>
                </a:solidFill>
                <a:effectLst/>
                <a:latin typeface="system-ui"/>
              </a:rPr>
              <a:t>"Как называется ответная реакция</a:t>
            </a:r>
          </a:p>
          <a:p>
            <a:r>
              <a:rPr lang="ru-RU" sz="2400" b="0" i="1" dirty="0">
                <a:solidFill>
                  <a:srgbClr val="222222"/>
                </a:solidFill>
                <a:effectLst/>
                <a:latin typeface="system-ui"/>
              </a:rPr>
              <a:t>организма на раздражение, осуществляемая нервной системой?"</a:t>
            </a:r>
            <a:endParaRPr lang="ru-RU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072294F-66FD-4904-8ABD-213F95C983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659" y="2213523"/>
            <a:ext cx="5587341" cy="464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3978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309</Words>
  <Application>Microsoft Office PowerPoint</Application>
  <PresentationFormat>Широкоэкранный</PresentationFormat>
  <Paragraphs>53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system-ui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PC</dc:creator>
  <cp:lastModifiedBy>PC</cp:lastModifiedBy>
  <cp:revision>5</cp:revision>
  <dcterms:created xsi:type="dcterms:W3CDTF">2026-10-05T10:23:21Z</dcterms:created>
  <dcterms:modified xsi:type="dcterms:W3CDTF">2026-10-05T10:53:58Z</dcterms:modified>
</cp:coreProperties>
</file>